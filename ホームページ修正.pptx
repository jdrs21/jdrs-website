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4" d="100"/>
          <a:sy n="74" d="100"/>
        </p:scale>
        <p:origin x="936" y="77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ACD7B2-A87A-8283-BBE1-7086A49D84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4C972D3-7DB4-2965-496B-875D67487D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1FBEBB8-3AE1-15EB-854E-0A6716312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C920B-8AE3-49B7-9DB3-5D5530573229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97F0932-209E-37AD-CA38-52D4E1F38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8FB35F9-8F63-7FA1-4598-3E2C18912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55850-35FC-4B63-9D05-A35F06C3A9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005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DC358F-5820-DD93-9A51-778ADED1D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50F2B4-B3D3-A465-A966-2E9B5CE8A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CBA44B-72D4-A034-5414-2D3F5839F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C920B-8AE3-49B7-9DB3-5D5530573229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A15880-C3F4-3636-96CD-256F157D5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69C80C6-04B0-6BCF-5BBA-A32255691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55850-35FC-4B63-9D05-A35F06C3A9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8902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62394E-FF2E-FAA8-D72D-C65DC4614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C4760D-ECBE-E40A-A8C5-4138095FF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D1B0710-0359-DB54-3974-8F1ECD62D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C920B-8AE3-49B7-9DB3-5D5530573229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4EB177-3244-B274-56F5-E7039368A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8628D6F-B852-3FAA-8DD9-EC8DC9A92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55850-35FC-4B63-9D05-A35F06C3A9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8860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A90F33-A60D-4E0F-EBE5-784C69C29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DD991EF-9530-38C7-E021-4DB7E25242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B4FEEBB-4361-EB3F-3C87-44B7A82FF7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F911AD3-AF95-4C71-93C4-B7DA724A1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C920B-8AE3-49B7-9DB3-5D5530573229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6BC5C3-ED19-2AB8-116A-AB6B135BA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6E12F2F-566D-A74C-0680-5633740EE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55850-35FC-4B63-9D05-A35F06C3A9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3137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A1A4FC-343D-8A02-AF02-763AF7B6F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AAA2873-04C8-C9AE-0FA1-918EC4774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AE354C5-9A26-B0D8-39A2-19164CA82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BB2A70-648A-47C6-B648-F9F80B5112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58D7DD3-CB3E-B73C-8E5F-2A43F1B2A6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C8EA1DD-B0B2-4719-027D-9462EAF4F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C920B-8AE3-49B7-9DB3-5D5530573229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446D031-FEC7-99BE-E345-E0D8596CE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8BAE791-C238-0788-2BA8-46AA1272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55850-35FC-4B63-9D05-A35F06C3A9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842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0A0AC1-8BC1-0C36-A00C-E77D05707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6BD4C08-68F4-D1D7-EEA1-93B931094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C920B-8AE3-49B7-9DB3-5D5530573229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296D006-C1C9-5425-B6DB-CE19FA6B0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20E47E3-1383-5F3D-10F4-A942A9479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55850-35FC-4B63-9D05-A35F06C3A9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590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AC7A887-55CB-F34A-1636-09A4363E0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C920B-8AE3-49B7-9DB3-5D5530573229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8757AD6-3AEF-58EB-EBB5-DC47B3470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E585B1E-E95D-2308-9923-A292FDB8F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55850-35FC-4B63-9D05-A35F06C3A9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3841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456702-9149-D416-EC9A-F9C489432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D439538-5975-B661-4F71-62D7957DD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43978E7-2E1A-3E48-3116-E60AFCE071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91CE9EA-8972-9B74-3B3B-987CFFB3C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C920B-8AE3-49B7-9DB3-5D5530573229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4F3BEF8-DA33-AE37-DC9C-A2A40B2AF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98ECF78-C774-A95E-1087-E2C51BBDE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55850-35FC-4B63-9D05-A35F06C3A9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6917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91E099-B329-9CD8-3D12-96E4A862D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642E00B-7723-3DA8-0BFC-002A04ED14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3E7FFC7-2468-522A-39CE-7E7390EB0F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01B5FA7-A65B-C3DD-ECC5-C6392C274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C920B-8AE3-49B7-9DB3-5D5530573229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4F05782-8609-A54E-FFF5-E198108B1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7829BA3-15CB-A6FB-338D-3413B6D3E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55850-35FC-4B63-9D05-A35F06C3A9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5858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564512-61AF-CC2F-4C7C-232435A06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5ECF409-03B2-FDD3-5CD4-84115BAEE4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BF4736-AF04-6F26-9E60-6C9B07C99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C920B-8AE3-49B7-9DB3-5D5530573229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AB80D0-5991-7831-ECC2-F80DD25BE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BDA184-D62D-ADF7-39AC-EEE65C37D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55850-35FC-4B63-9D05-A35F06C3A9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9779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7E9A1A8-88C8-EAAC-9BF7-683B495651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AC2AC9-BECE-F968-33C1-1F7F81F422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D90F16-2D6A-5E74-3E39-9377D4DA4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C920B-8AE3-49B7-9DB3-5D5530573229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2AE9ECC-3881-C1C8-90FA-8FCBF3DAF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38FB149-9575-2D5B-B1FC-15673D8E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55850-35FC-4B63-9D05-A35F06C3A9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2650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AA7F575-5136-FBD1-DA6C-B4E92F3C3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68EF06B-C3DE-2A99-9672-6CA4C07ED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9627A5B-E21E-A5ED-05F4-4E3EE9A90E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C920B-8AE3-49B7-9DB3-5D5530573229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CD5D68B-D8E6-376B-74DA-A0B165360B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CA2923-0D8F-3823-9D8F-585A65D84C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955850-35FC-4B63-9D05-A35F06C3A9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993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F222D7D8-2C30-DBC1-E447-F653CD126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30735"/>
          </a:xfrm>
          <a:prstGeom prst="rect">
            <a:avLst/>
          </a:prstGeom>
        </p:spPr>
      </p:pic>
      <p:sp>
        <p:nvSpPr>
          <p:cNvPr id="8" name="吹き出し: 角を丸めた四角形 7">
            <a:extLst>
              <a:ext uri="{FF2B5EF4-FFF2-40B4-BE49-F238E27FC236}">
                <a16:creationId xmlns:a16="http://schemas.microsoft.com/office/drawing/2014/main" id="{FCA461CA-143C-D4F6-355F-A855C35DDC73}"/>
              </a:ext>
            </a:extLst>
          </p:cNvPr>
          <p:cNvSpPr/>
          <p:nvPr/>
        </p:nvSpPr>
        <p:spPr>
          <a:xfrm>
            <a:off x="8946573" y="436419"/>
            <a:ext cx="1870363" cy="405246"/>
          </a:xfrm>
          <a:prstGeom prst="wedgeRoundRectCallout">
            <a:avLst>
              <a:gd name="adj1" fmla="val -34167"/>
              <a:gd name="adj2" fmla="val -50777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rgbClr val="FF0000"/>
                </a:solidFill>
              </a:rPr>
              <a:t>表示なし</a:t>
            </a:r>
          </a:p>
        </p:txBody>
      </p:sp>
      <p:sp>
        <p:nvSpPr>
          <p:cNvPr id="9" name="吹き出し: 角を丸めた四角形 8">
            <a:extLst>
              <a:ext uri="{FF2B5EF4-FFF2-40B4-BE49-F238E27FC236}">
                <a16:creationId xmlns:a16="http://schemas.microsoft.com/office/drawing/2014/main" id="{C016581A-5017-DEA3-57A8-265D55C971CB}"/>
              </a:ext>
            </a:extLst>
          </p:cNvPr>
          <p:cNvSpPr/>
          <p:nvPr/>
        </p:nvSpPr>
        <p:spPr>
          <a:xfrm>
            <a:off x="1129147" y="1222665"/>
            <a:ext cx="4565072" cy="405246"/>
          </a:xfrm>
          <a:prstGeom prst="wedgeRoundRectCallout">
            <a:avLst>
              <a:gd name="adj1" fmla="val -34167"/>
              <a:gd name="adj2" fmla="val -50777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rgbClr val="FF0000"/>
                </a:solidFill>
              </a:rPr>
              <a:t>ボタン式で表示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10" name="吹き出し: 角を丸めた四角形 9">
            <a:extLst>
              <a:ext uri="{FF2B5EF4-FFF2-40B4-BE49-F238E27FC236}">
                <a16:creationId xmlns:a16="http://schemas.microsoft.com/office/drawing/2014/main" id="{AB68EA69-D0C1-EC8C-947D-7689B30BBC99}"/>
              </a:ext>
            </a:extLst>
          </p:cNvPr>
          <p:cNvSpPr/>
          <p:nvPr/>
        </p:nvSpPr>
        <p:spPr>
          <a:xfrm>
            <a:off x="8717973" y="1839191"/>
            <a:ext cx="3349336" cy="762002"/>
          </a:xfrm>
          <a:prstGeom prst="wedgeRoundRectCallout">
            <a:avLst>
              <a:gd name="adj1" fmla="val -34167"/>
              <a:gd name="adj2" fmla="val -50777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rgbClr val="FF0000"/>
                </a:solidFill>
              </a:rPr>
              <a:t>背景を現行の「青空」をデザイン</a:t>
            </a:r>
            <a:endParaRPr kumimoji="1" lang="en-US" altLang="ja-JP" sz="1400" dirty="0">
              <a:solidFill>
                <a:srgbClr val="FF0000"/>
              </a:solidFill>
            </a:endParaRPr>
          </a:p>
          <a:p>
            <a:pPr algn="ctr"/>
            <a:r>
              <a:rPr lang="ja-JP" altLang="en-US" sz="1400" dirty="0">
                <a:solidFill>
                  <a:srgbClr val="FF0000"/>
                </a:solidFill>
              </a:rPr>
              <a:t>今後も定期的に変更有</a:t>
            </a:r>
            <a:endParaRPr lang="en-US" altLang="ja-JP" sz="1400" dirty="0">
              <a:solidFill>
                <a:srgbClr val="FF0000"/>
              </a:solidFill>
            </a:endParaRPr>
          </a:p>
          <a:p>
            <a:pPr algn="ctr"/>
            <a:r>
              <a:rPr kumimoji="1" lang="ja-JP" altLang="en-US" sz="1400" dirty="0">
                <a:solidFill>
                  <a:srgbClr val="FF0000"/>
                </a:solidFill>
              </a:rPr>
              <a:t>その際に軽易に可能か</a:t>
            </a:r>
          </a:p>
        </p:txBody>
      </p:sp>
      <p:sp>
        <p:nvSpPr>
          <p:cNvPr id="11" name="吹き出し: 角を丸めた四角形 10">
            <a:extLst>
              <a:ext uri="{FF2B5EF4-FFF2-40B4-BE49-F238E27FC236}">
                <a16:creationId xmlns:a16="http://schemas.microsoft.com/office/drawing/2014/main" id="{89AE120D-299A-060D-3169-7D976FC70E53}"/>
              </a:ext>
            </a:extLst>
          </p:cNvPr>
          <p:cNvSpPr/>
          <p:nvPr/>
        </p:nvSpPr>
        <p:spPr>
          <a:xfrm>
            <a:off x="8207086" y="6040580"/>
            <a:ext cx="3349336" cy="762002"/>
          </a:xfrm>
          <a:prstGeom prst="wedgeRoundRectCallout">
            <a:avLst>
              <a:gd name="adj1" fmla="val -59917"/>
              <a:gd name="adj2" fmla="val -19413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rgbClr val="FF0000"/>
                </a:solidFill>
              </a:rPr>
              <a:t>同じ中項目のタイトルの為、同一色・同一幅で表示</a:t>
            </a:r>
            <a:endParaRPr kumimoji="1" lang="en-US" altLang="ja-JP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798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903253-645D-ED5C-8493-3FDA8D3D9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74AAC82-831A-A3A1-75F9-F1BC45907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66C9ECE-61AA-771E-3C94-50F4594BB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吹き出し: 角を丸めた四角形 5">
            <a:extLst>
              <a:ext uri="{FF2B5EF4-FFF2-40B4-BE49-F238E27FC236}">
                <a16:creationId xmlns:a16="http://schemas.microsoft.com/office/drawing/2014/main" id="{348E400C-FCCC-273E-0EAB-2E9BE7A364C7}"/>
              </a:ext>
            </a:extLst>
          </p:cNvPr>
          <p:cNvSpPr/>
          <p:nvPr/>
        </p:nvSpPr>
        <p:spPr>
          <a:xfrm>
            <a:off x="1769917" y="2653938"/>
            <a:ext cx="9483438" cy="2894807"/>
          </a:xfrm>
          <a:prstGeom prst="wedgeRoundRectCallout">
            <a:avLst>
              <a:gd name="adj1" fmla="val -34167"/>
              <a:gd name="adj2" fmla="val -50777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sz="1400" dirty="0">
                <a:solidFill>
                  <a:srgbClr val="FF0000"/>
                </a:solidFill>
              </a:rPr>
              <a:t>デザイン：左右に</a:t>
            </a:r>
            <a:r>
              <a:rPr lang="ja-JP" altLang="en-US" sz="1400" dirty="0">
                <a:solidFill>
                  <a:srgbClr val="FF0000"/>
                </a:solidFill>
              </a:rPr>
              <a:t>上下表示されている「法人向け・・・」「行政・協議会・・・・」を表示　</a:t>
            </a:r>
            <a:endParaRPr lang="en-US" altLang="ja-JP" sz="1400" dirty="0">
              <a:solidFill>
                <a:srgbClr val="FF0000"/>
              </a:solidFill>
            </a:endParaRPr>
          </a:p>
          <a:p>
            <a:pPr algn="ctr"/>
            <a:r>
              <a:rPr kumimoji="1" lang="ja-JP" altLang="en-US" sz="1400" dirty="0">
                <a:solidFill>
                  <a:srgbClr val="FF0000"/>
                </a:solidFill>
              </a:rPr>
              <a:t>スペースを取りすぎ</a:t>
            </a:r>
            <a:endParaRPr kumimoji="1" lang="en-US" altLang="ja-JP" sz="1400" dirty="0">
              <a:solidFill>
                <a:srgbClr val="FF0000"/>
              </a:solidFill>
            </a:endParaRPr>
          </a:p>
          <a:p>
            <a:pPr algn="ctr"/>
            <a:r>
              <a:rPr lang="ja-JP" altLang="en-US" sz="1400" dirty="0">
                <a:solidFill>
                  <a:srgbClr val="FF0000"/>
                </a:solidFill>
              </a:rPr>
              <a:t>下記はイメージ図</a:t>
            </a:r>
            <a:endParaRPr kumimoji="1" lang="en-US" altLang="ja-JP" sz="1400" dirty="0">
              <a:solidFill>
                <a:srgbClr val="FF0000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5788B97C-297A-0867-85EB-48EE3CDFD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939" y="3580606"/>
            <a:ext cx="4063061" cy="1843448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EBE13032-17D6-6718-77A3-11B2E5460A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7601" y="3580606"/>
            <a:ext cx="4598944" cy="1843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387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E02765-1C14-1BD7-1A9B-4B7846FE5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9127FEB-A4EA-16DC-D2F2-BFB92BEBD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828AD5D-8031-B654-91D9-F8E0FEA90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吹き出し: 角を丸めた四角形 5">
            <a:extLst>
              <a:ext uri="{FF2B5EF4-FFF2-40B4-BE49-F238E27FC236}">
                <a16:creationId xmlns:a16="http://schemas.microsoft.com/office/drawing/2014/main" id="{AF716A81-C793-7EE4-B0D9-7FBE1335ACBD}"/>
              </a:ext>
            </a:extLst>
          </p:cNvPr>
          <p:cNvSpPr/>
          <p:nvPr/>
        </p:nvSpPr>
        <p:spPr>
          <a:xfrm>
            <a:off x="1614053" y="5220493"/>
            <a:ext cx="9483438" cy="608807"/>
          </a:xfrm>
          <a:prstGeom prst="wedgeRoundRectCallout">
            <a:avLst>
              <a:gd name="adj1" fmla="val -34167"/>
              <a:gd name="adj2" fmla="val -50777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ja-JP" altLang="en-US" sz="1600" dirty="0">
                <a:solidFill>
                  <a:srgbClr val="FF0000"/>
                </a:solidFill>
              </a:rPr>
              <a:t>今後、動画が増える事を想定して位置づけデザイン（表示大きさ等）</a:t>
            </a:r>
            <a:endParaRPr lang="en-US" altLang="ja-JP" sz="1600" dirty="0">
              <a:solidFill>
                <a:srgbClr val="FF0000"/>
              </a:solidFill>
            </a:endParaRPr>
          </a:p>
          <a:p>
            <a:pPr algn="ctr"/>
            <a:r>
              <a:rPr lang="ja-JP" altLang="en-US" sz="1600" dirty="0">
                <a:solidFill>
                  <a:srgbClr val="FF0000"/>
                </a:solidFill>
              </a:rPr>
              <a:t>現行問題なし</a:t>
            </a:r>
            <a:endParaRPr lang="en-US" altLang="ja-JP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7965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801534-21DB-F364-A130-0EB7E5EF3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5B1C1F1-87FA-8275-7491-F32BBBE9F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B5AA36B-EE82-542F-7418-C3E7A2AA8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吹き出し: 角を丸めた四角形 5">
            <a:extLst>
              <a:ext uri="{FF2B5EF4-FFF2-40B4-BE49-F238E27FC236}">
                <a16:creationId xmlns:a16="http://schemas.microsoft.com/office/drawing/2014/main" id="{53D84C4E-8510-4330-09E8-5CBA9A163D46}"/>
              </a:ext>
            </a:extLst>
          </p:cNvPr>
          <p:cNvSpPr/>
          <p:nvPr/>
        </p:nvSpPr>
        <p:spPr>
          <a:xfrm>
            <a:off x="1354281" y="5604271"/>
            <a:ext cx="9483438" cy="608807"/>
          </a:xfrm>
          <a:prstGeom prst="wedgeRoundRectCallout">
            <a:avLst>
              <a:gd name="adj1" fmla="val -34167"/>
              <a:gd name="adj2" fmla="val -50777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ja-JP" altLang="en-US" sz="1600" dirty="0">
                <a:solidFill>
                  <a:srgbClr val="FF0000"/>
                </a:solidFill>
              </a:rPr>
              <a:t>「講演依頼実績」はより見えやすく表示（案件獲得に対する実績の</a:t>
            </a:r>
            <a:r>
              <a:rPr lang="en-US" altLang="ja-JP" sz="1600" dirty="0">
                <a:solidFill>
                  <a:srgbClr val="FF0000"/>
                </a:solidFill>
              </a:rPr>
              <a:t>PR</a:t>
            </a:r>
            <a:r>
              <a:rPr lang="ja-JP" altLang="en-US" sz="1600" dirty="0">
                <a:solidFill>
                  <a:srgbClr val="FF0000"/>
                </a:solidFill>
              </a:rPr>
              <a:t>は重要であるため）</a:t>
            </a:r>
            <a:endParaRPr lang="en-US" altLang="ja-JP" sz="1600" dirty="0">
              <a:solidFill>
                <a:srgbClr val="FF0000"/>
              </a:solidFill>
            </a:endParaRPr>
          </a:p>
          <a:p>
            <a:pPr algn="ctr"/>
            <a:r>
              <a:rPr lang="ja-JP" altLang="en-US" sz="1600" dirty="0">
                <a:solidFill>
                  <a:srgbClr val="FF0000"/>
                </a:solidFill>
              </a:rPr>
              <a:t>その他は現状で</a:t>
            </a:r>
            <a:r>
              <a:rPr lang="en-US" altLang="ja-JP" sz="1600" dirty="0">
                <a:solidFill>
                  <a:srgbClr val="FF0000"/>
                </a:solidFill>
              </a:rPr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1329563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024965-1D98-3C3D-FD74-D5D60092D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A61CE1E-641D-3563-1491-D054C43DB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BFD434A-BA1D-2134-9994-70D0DC4D2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吹き出し: 角を丸めた四角形 5">
            <a:extLst>
              <a:ext uri="{FF2B5EF4-FFF2-40B4-BE49-F238E27FC236}">
                <a16:creationId xmlns:a16="http://schemas.microsoft.com/office/drawing/2014/main" id="{17B4856D-BD4B-9B48-E313-3D95BE6FB3B1}"/>
              </a:ext>
            </a:extLst>
          </p:cNvPr>
          <p:cNvSpPr/>
          <p:nvPr/>
        </p:nvSpPr>
        <p:spPr>
          <a:xfrm>
            <a:off x="4831772" y="938753"/>
            <a:ext cx="7252855" cy="886872"/>
          </a:xfrm>
          <a:prstGeom prst="wedgeRoundRectCallout">
            <a:avLst>
              <a:gd name="adj1" fmla="val -34167"/>
              <a:gd name="adj2" fmla="val -50777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ja-JP" altLang="en-US" sz="1600" dirty="0">
                <a:solidFill>
                  <a:srgbClr val="FF0000"/>
                </a:solidFill>
              </a:rPr>
              <a:t>各項目をクリックすると各細部内容に別表示で表示</a:t>
            </a:r>
            <a:r>
              <a:rPr lang="en-US" altLang="ja-JP" sz="1600" dirty="0">
                <a:solidFill>
                  <a:srgbClr val="FF0000"/>
                </a:solidFill>
              </a:rPr>
              <a:t>OK</a:t>
            </a:r>
          </a:p>
          <a:p>
            <a:pPr algn="ctr"/>
            <a:r>
              <a:rPr lang="ja-JP" altLang="en-US" sz="1600" dirty="0">
                <a:solidFill>
                  <a:srgbClr val="FF0000"/>
                </a:solidFill>
              </a:rPr>
              <a:t>　文字の右に当日の様子である写真を表示させるとよりクリックに</a:t>
            </a:r>
            <a:endParaRPr lang="en-US" altLang="ja-JP" sz="1600" dirty="0">
              <a:solidFill>
                <a:srgbClr val="FF0000"/>
              </a:solidFill>
            </a:endParaRPr>
          </a:p>
          <a:p>
            <a:pPr algn="ctr"/>
            <a:r>
              <a:rPr lang="ja-JP" altLang="en-US" sz="1600" dirty="0">
                <a:solidFill>
                  <a:srgbClr val="FF0000"/>
                </a:solidFill>
              </a:rPr>
              <a:t>つながるため写真表示できるよう改修</a:t>
            </a:r>
            <a:endParaRPr lang="en-US" altLang="ja-JP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9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B36BBC-3D7E-6D13-0AD6-F8B8E07F3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D9CF40-C7A6-2887-F162-A491327EF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F1C1464-E2A5-C10E-B707-83F0DED96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吹き出し: 角を丸めた四角形 5">
            <a:extLst>
              <a:ext uri="{FF2B5EF4-FFF2-40B4-BE49-F238E27FC236}">
                <a16:creationId xmlns:a16="http://schemas.microsoft.com/office/drawing/2014/main" id="{F5CF2D15-8889-7248-CC4F-ABDB96238BA4}"/>
              </a:ext>
            </a:extLst>
          </p:cNvPr>
          <p:cNvSpPr/>
          <p:nvPr/>
        </p:nvSpPr>
        <p:spPr>
          <a:xfrm>
            <a:off x="4831772" y="938753"/>
            <a:ext cx="7252855" cy="886872"/>
          </a:xfrm>
          <a:prstGeom prst="wedgeRoundRectCallout">
            <a:avLst>
              <a:gd name="adj1" fmla="val -34167"/>
              <a:gd name="adj2" fmla="val -50777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ja-JP" altLang="en-US" sz="1600" dirty="0">
                <a:solidFill>
                  <a:srgbClr val="FF0000"/>
                </a:solidFill>
              </a:rPr>
              <a:t>各項目をクリックすると各細部内容に別表示できていない。改修必要</a:t>
            </a:r>
            <a:endParaRPr lang="en-US" altLang="ja-JP" sz="1600" dirty="0">
              <a:solidFill>
                <a:srgbClr val="FF0000"/>
              </a:solidFill>
            </a:endParaRPr>
          </a:p>
          <a:p>
            <a:pPr algn="ctr"/>
            <a:r>
              <a:rPr lang="ja-JP" altLang="en-US" sz="1600" dirty="0">
                <a:solidFill>
                  <a:srgbClr val="FF0000"/>
                </a:solidFill>
              </a:rPr>
              <a:t>　文字の右に当日の様子である写真を表示させるとよりクリックに</a:t>
            </a:r>
            <a:endParaRPr lang="en-US" altLang="ja-JP" sz="1600" dirty="0">
              <a:solidFill>
                <a:srgbClr val="FF0000"/>
              </a:solidFill>
            </a:endParaRPr>
          </a:p>
          <a:p>
            <a:pPr algn="ctr"/>
            <a:r>
              <a:rPr lang="ja-JP" altLang="en-US" sz="1600" dirty="0">
                <a:solidFill>
                  <a:srgbClr val="FF0000"/>
                </a:solidFill>
              </a:rPr>
              <a:t>つながるため写真表示できるよう改修</a:t>
            </a:r>
            <a:endParaRPr lang="en-US" altLang="ja-JP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1939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21B5BD-ED2F-C475-D1BD-614D0E98B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3963970-81A3-D1CA-796A-179D650B9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268BF5E-0BC8-D9FC-B0E7-2FB261410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吹き出し: 角を丸めた四角形 5">
            <a:extLst>
              <a:ext uri="{FF2B5EF4-FFF2-40B4-BE49-F238E27FC236}">
                <a16:creationId xmlns:a16="http://schemas.microsoft.com/office/drawing/2014/main" id="{29577FA2-5A79-F500-EE67-7ACB0A30AF10}"/>
              </a:ext>
            </a:extLst>
          </p:cNvPr>
          <p:cNvSpPr/>
          <p:nvPr/>
        </p:nvSpPr>
        <p:spPr>
          <a:xfrm>
            <a:off x="4831772" y="938753"/>
            <a:ext cx="7252855" cy="886872"/>
          </a:xfrm>
          <a:prstGeom prst="wedgeRoundRectCallout">
            <a:avLst>
              <a:gd name="adj1" fmla="val -34167"/>
              <a:gd name="adj2" fmla="val -50777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ja-JP" altLang="en-US" sz="1600" dirty="0">
                <a:solidFill>
                  <a:srgbClr val="FF0000"/>
                </a:solidFill>
              </a:rPr>
              <a:t>各項目をクリックすると各細部内容に別表示</a:t>
            </a:r>
            <a:r>
              <a:rPr lang="en-US" altLang="ja-JP" sz="1600" dirty="0">
                <a:solidFill>
                  <a:srgbClr val="FF0000"/>
                </a:solidFill>
              </a:rPr>
              <a:t>OK</a:t>
            </a:r>
            <a:r>
              <a:rPr lang="ja-JP" altLang="en-US" sz="1600" dirty="0">
                <a:solidFill>
                  <a:srgbClr val="FF0000"/>
                </a:solidFill>
              </a:rPr>
              <a:t>。</a:t>
            </a:r>
            <a:endParaRPr lang="en-US" altLang="ja-JP" sz="1600" dirty="0">
              <a:solidFill>
                <a:srgbClr val="FF0000"/>
              </a:solidFill>
            </a:endParaRPr>
          </a:p>
          <a:p>
            <a:pPr algn="ctr"/>
            <a:r>
              <a:rPr lang="ja-JP" altLang="en-US" sz="1600" dirty="0">
                <a:solidFill>
                  <a:srgbClr val="FF0000"/>
                </a:solidFill>
              </a:rPr>
              <a:t>　文字の右に当日の様子である写真を表示させるとよりクリックに</a:t>
            </a:r>
            <a:endParaRPr lang="en-US" altLang="ja-JP" sz="1600" dirty="0">
              <a:solidFill>
                <a:srgbClr val="FF0000"/>
              </a:solidFill>
            </a:endParaRPr>
          </a:p>
          <a:p>
            <a:pPr algn="ctr"/>
            <a:r>
              <a:rPr lang="ja-JP" altLang="en-US" sz="1600" dirty="0">
                <a:solidFill>
                  <a:srgbClr val="FF0000"/>
                </a:solidFill>
              </a:rPr>
              <a:t>つながるため写真表示できるよう改修</a:t>
            </a:r>
            <a:endParaRPr lang="en-US" altLang="ja-JP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3656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35F771-21A9-0792-4F31-3CA1FBF4D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531BA88-DBB8-6B23-2C94-30DE77C33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A4F445E-9787-D3D0-43B3-7D4750D57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802"/>
            <a:ext cx="12192000" cy="6951062"/>
          </a:xfrm>
          <a:prstGeom prst="rect">
            <a:avLst/>
          </a:prstGeom>
        </p:spPr>
      </p:pic>
      <p:sp>
        <p:nvSpPr>
          <p:cNvPr id="6" name="吹き出し: 角を丸めた四角形 5">
            <a:extLst>
              <a:ext uri="{FF2B5EF4-FFF2-40B4-BE49-F238E27FC236}">
                <a16:creationId xmlns:a16="http://schemas.microsoft.com/office/drawing/2014/main" id="{D3E840FD-BF4C-24A7-1497-23B4973981CE}"/>
              </a:ext>
            </a:extLst>
          </p:cNvPr>
          <p:cNvSpPr/>
          <p:nvPr/>
        </p:nvSpPr>
        <p:spPr>
          <a:xfrm>
            <a:off x="2469572" y="2665666"/>
            <a:ext cx="7252855" cy="726822"/>
          </a:xfrm>
          <a:prstGeom prst="wedgeRoundRectCallout">
            <a:avLst>
              <a:gd name="adj1" fmla="val -34167"/>
              <a:gd name="adj2" fmla="val -50777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ja-JP" altLang="en-US" sz="1600" dirty="0">
                <a:solidFill>
                  <a:srgbClr val="FF0000"/>
                </a:solidFill>
              </a:rPr>
              <a:t>デザイン的に背景は写真が良好</a:t>
            </a:r>
            <a:endParaRPr lang="en-US" altLang="ja-JP" sz="1600" dirty="0">
              <a:solidFill>
                <a:srgbClr val="FF0000"/>
              </a:solidFill>
            </a:endParaRPr>
          </a:p>
          <a:p>
            <a:pPr algn="ctr"/>
            <a:r>
              <a:rPr lang="ja-JP" altLang="en-US" sz="1600" dirty="0">
                <a:solidFill>
                  <a:srgbClr val="FF0000"/>
                </a:solidFill>
              </a:rPr>
              <a:t>イラスト表示もよりイメージしやすいと思う</a:t>
            </a:r>
            <a:endParaRPr lang="en-US" altLang="ja-JP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136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154724-3D2D-EFBE-E502-85CF73EF0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E71137-85AB-3BD4-B98F-7BAAB85BA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6AD0840-7E58-4216-8574-F94FED11A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吹き出し: 角を丸めた四角形 5">
            <a:extLst>
              <a:ext uri="{FF2B5EF4-FFF2-40B4-BE49-F238E27FC236}">
                <a16:creationId xmlns:a16="http://schemas.microsoft.com/office/drawing/2014/main" id="{E8F7D48E-E27E-42A5-16DE-FBF49C101B86}"/>
              </a:ext>
            </a:extLst>
          </p:cNvPr>
          <p:cNvSpPr/>
          <p:nvPr/>
        </p:nvSpPr>
        <p:spPr>
          <a:xfrm>
            <a:off x="2469572" y="2665666"/>
            <a:ext cx="7252855" cy="451607"/>
          </a:xfrm>
          <a:prstGeom prst="wedgeRoundRectCallout">
            <a:avLst>
              <a:gd name="adj1" fmla="val -34167"/>
              <a:gd name="adj2" fmla="val -50777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ja-JP" altLang="en-US" sz="1600" dirty="0">
                <a:solidFill>
                  <a:srgbClr val="FF0000"/>
                </a:solidFill>
              </a:rPr>
              <a:t>文字数多いため横長表示し下に他項目を表示</a:t>
            </a:r>
            <a:endParaRPr lang="en-US" altLang="ja-JP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7658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260</Words>
  <Application>Microsoft Office PowerPoint</Application>
  <PresentationFormat>ワイド画面</PresentationFormat>
  <Paragraphs>25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顕 高須賀</dc:creator>
  <cp:lastModifiedBy>顕 高須賀</cp:lastModifiedBy>
  <cp:revision>1</cp:revision>
  <dcterms:created xsi:type="dcterms:W3CDTF">2026-03-08T07:56:42Z</dcterms:created>
  <dcterms:modified xsi:type="dcterms:W3CDTF">2026-03-08T08:21:01Z</dcterms:modified>
</cp:coreProperties>
</file>